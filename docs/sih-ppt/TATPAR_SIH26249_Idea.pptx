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d8d36d7-02c8-15bc-f54e-1ed3b02be2d8}">
          <p14:sldIdLst>
            <p14:sldId id="256"/>
          </p14:sldIdLst>
        </p14:section>
        <p14:section name="Solution" id="{1749f85d-53b6-eb28-8d05-6ea66c571e24}">
          <p14:sldIdLst>
            <p14:sldId id="257"/>
          </p14:sldIdLst>
        </p14:section>
        <p14:section name="Approach" id="{e5eda7ee-d79a-7bb1-c6ae-54841d22b011}">
          <p14:sldIdLst>
            <p14:sldId id="258"/>
          </p14:sldIdLst>
        </p14:section>
        <p14:section name="Feasibility" id="{895c6d73-a13e-e557-36c9-41d6cd1805a7}">
          <p14:sldIdLst>
            <p14:sldId id="259"/>
          </p14:sldIdLst>
        </p14:section>
        <p14:section name="Impact" id="{35242fb5-e6e1-012c-ea84-f0d7a192c2b3}">
          <p14:sldIdLst>
            <p14:sldId id="260"/>
          </p14:sldIdLst>
        </p14:section>
        <p14:section name="References" id="{81f1bdc8-01fc-bcd6-a6a5-954384171b87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in the SIH template order. Fill Team ID and Team Name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other PS-26249 team answers 'which aircraft might fail'. TATPAR answers the three commander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layers: data fabric, intelligence, fleet twin, decision engines, experience, trust. The loop ends with human approval and learning from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Feasible today: every building block exists in open-source tooling; the novelty is in combining them around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figures are from open sources (see references). The +1 point arithmetic is illustrative: 1 % of ~550 fighters.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link list in docs/01-research.md.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SIH 2026  ·  PS 26249  ·  TATPAR — Readiness Assurance for Air Fleets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SIH 2026  ·  PS 26249  ·  TATPAR — Readiness Assurance for Air Fleets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SMART INDIA HACKATHON 2026</a:t>
            </a:r>
            <a:endParaRPr lang="en-US" sz="1400" dirty="0"/>
          </a:p>
        </p:txBody>
      </p:sp>
      <p:sp>
        <p:nvSpPr>
          <p:cNvPr id="3" name="product-name"/>
          <p:cNvSpPr txBox="1"/>
          <p:nvPr/>
        </p:nvSpPr>
        <p:spPr>
          <a:xfrm>
            <a:off x="54864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TATPAR</a:t>
            </a:r>
            <a:endParaRPr lang="en-US" sz="8000" dirty="0"/>
          </a:p>
        </p:txBody>
      </p:sp>
      <p:sp>
        <p:nvSpPr>
          <p:cNvPr id="4" name="meaning"/>
          <p:cNvSpPr txBox="1"/>
          <p:nvPr/>
        </p:nvSpPr>
        <p:spPr>
          <a:xfrm>
            <a:off x="548640" y="2331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तत्पर</a:t>
            </a:r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  ·  “ever-ready”</a:t>
            </a:r>
            <a:endParaRPr lang="en-US" sz="22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92608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Readiness Assurance Platform for Air Fleets</a:t>
            </a:r>
            <a:endParaRPr lang="en-US" sz="2800" dirty="0"/>
          </a:p>
        </p:txBody>
      </p:sp>
      <p:sp>
        <p:nvSpPr>
          <p:cNvPr id="6" name="tagline"/>
          <p:cNvSpPr txBox="1"/>
          <p:nvPr/>
        </p:nvSpPr>
        <p:spPr>
          <a:xfrm>
            <a:off x="548640" y="3977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2"/>
                </a:solidFill>
              </a:rPr>
              <a:t>Others predict failures. TATPAR assures readiness.</a:t>
            </a:r>
            <a:endParaRPr lang="en-US" sz="2000" dirty="0"/>
          </a:p>
        </p:txBody>
      </p:sp>
      <p:sp>
        <p:nvSpPr>
          <p:cNvPr id="7" name="jet-circle"/>
          <p:cNvSpPr/>
          <p:nvPr/>
        </p:nvSpPr>
        <p:spPr>
          <a:xfrm>
            <a:off x="548640" y="48920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je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5133442"/>
            <a:ext cx="523037" cy="523037"/>
          </a:xfrm>
          <a:prstGeom prst="rect">
            <a:avLst/>
          </a:prstGeom>
        </p:spPr>
      </p:pic>
      <p:sp>
        <p:nvSpPr>
          <p:cNvPr id="9" name="pillars"/>
          <p:cNvSpPr txBox="1"/>
          <p:nvPr/>
        </p:nvSpPr>
        <p:spPr>
          <a:xfrm>
            <a:off x="1783080" y="5074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AI prognostics  ·  sustainment digital twin  ·  fleet optimisation  ·  offline &amp; sovereign</a:t>
            </a:r>
            <a:endParaRPr lang="en-US" sz="1400" dirty="0"/>
          </a:p>
        </p:txBody>
      </p:sp>
      <p:sp>
        <p:nvSpPr>
          <p:cNvPr id="10" name="info-card"/>
          <p:cNvSpPr/>
          <p:nvPr/>
        </p:nvSpPr>
        <p:spPr>
          <a:xfrm>
            <a:off x="7498080" y="502920"/>
            <a:ext cx="4206240" cy="56692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info-0"/>
          <p:cNvSpPr txBox="1"/>
          <p:nvPr/>
        </p:nvSpPr>
        <p:spPr>
          <a:xfrm>
            <a:off x="7772400" y="7772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PROBLEM STATEMENT ID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26249</a:t>
            </a:r>
            <a:endParaRPr lang="en-US" sz="1000" dirty="0"/>
          </a:p>
        </p:txBody>
      </p:sp>
      <p:sp>
        <p:nvSpPr>
          <p:cNvPr id="12" name="info-1"/>
          <p:cNvSpPr txBox="1"/>
          <p:nvPr/>
        </p:nvSpPr>
        <p:spPr>
          <a:xfrm>
            <a:off x="7772400" y="1435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PROBLEM STATEMENT TITLE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Air Power – Predictive Maintenance &amp; Fleet Availability</a:t>
            </a:r>
            <a:endParaRPr lang="en-US" sz="1000" dirty="0"/>
          </a:p>
        </p:txBody>
      </p:sp>
      <p:sp>
        <p:nvSpPr>
          <p:cNvPr id="13" name="info-2"/>
          <p:cNvSpPr txBox="1"/>
          <p:nvPr/>
        </p:nvSpPr>
        <p:spPr>
          <a:xfrm>
            <a:off x="7772400" y="23957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ORGANISATION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Ministry of Defence · Defence Services Staff College</a:t>
            </a:r>
            <a:endParaRPr lang="en-US" sz="1000" dirty="0"/>
          </a:p>
        </p:txBody>
      </p:sp>
      <p:sp>
        <p:nvSpPr>
          <p:cNvPr id="14" name="info-3"/>
          <p:cNvSpPr txBox="1"/>
          <p:nvPr/>
        </p:nvSpPr>
        <p:spPr>
          <a:xfrm>
            <a:off x="7772400" y="33558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THEME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Transportation &amp; Logistics</a:t>
            </a:r>
            <a:endParaRPr lang="en-US" sz="1000" dirty="0"/>
          </a:p>
        </p:txBody>
      </p:sp>
      <p:sp>
        <p:nvSpPr>
          <p:cNvPr id="15" name="info-4"/>
          <p:cNvSpPr txBox="1"/>
          <p:nvPr/>
        </p:nvSpPr>
        <p:spPr>
          <a:xfrm>
            <a:off x="7772400" y="401421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PS CATEGORY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Software</a:t>
            </a:r>
            <a:endParaRPr lang="en-US" sz="1000" dirty="0"/>
          </a:p>
        </p:txBody>
      </p:sp>
      <p:sp>
        <p:nvSpPr>
          <p:cNvPr id="16" name="info-5"/>
          <p:cNvSpPr txBox="1"/>
          <p:nvPr/>
        </p:nvSpPr>
        <p:spPr>
          <a:xfrm>
            <a:off x="7772400" y="46725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TEAM ID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be filled</a:t>
            </a:r>
            <a:endParaRPr lang="en-US" sz="1000" dirty="0"/>
          </a:p>
        </p:txBody>
      </p:sp>
      <p:sp>
        <p:nvSpPr>
          <p:cNvPr id="17" name="info-6"/>
          <p:cNvSpPr txBox="1"/>
          <p:nvPr/>
        </p:nvSpPr>
        <p:spPr>
          <a:xfrm>
            <a:off x="7772400" y="533095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TEAM NAME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be filled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Solution</a:t>
            </a:r>
            <a:endParaRPr lang="en-US" sz="3600" dirty="0"/>
          </a:p>
        </p:txBody>
      </p:sp>
      <p:sp>
        <p:nvSpPr>
          <p:cNvPr id="3" name="lede"/>
          <p:cNvSpPr txBox="1"/>
          <p:nvPr/>
        </p:nvSpPr>
        <p:spPr>
          <a:xfrm>
            <a:off x="457200" y="102412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TATPAR joins health monitoring, technical records, spares and repair-agency data, then plans flying, maintenance and spares so that the required number of aircraft is mission-capable on the day of need — with stated confidence.</a:t>
            </a:r>
            <a:endParaRPr lang="en-US" sz="1500" dirty="0"/>
          </a:p>
        </p:txBody>
      </p:sp>
      <p:sp>
        <p:nvSpPr>
          <p:cNvPr id="4" name="q-card"/>
          <p:cNvSpPr/>
          <p:nvPr/>
        </p:nvSpPr>
        <p:spPr>
          <a:xfrm>
            <a:off x="457200" y="182880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q-circle"/>
          <p:cNvSpPr/>
          <p:nvPr/>
        </p:nvSpPr>
        <p:spPr>
          <a:xfrm>
            <a:off x="685800" y="21031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q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310" y="2300630"/>
            <a:ext cx="427939" cy="427939"/>
          </a:xfrm>
          <a:prstGeom prst="rect">
            <a:avLst/>
          </a:prstGeom>
        </p:spPr>
      </p:pic>
      <p:sp>
        <p:nvSpPr>
          <p:cNvPr id="7" name="q-text"/>
          <p:cNvSpPr txBox="1"/>
          <p:nvPr/>
        </p:nvSpPr>
        <p:spPr>
          <a:xfrm>
            <a:off x="1737360" y="1920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“How many aircraft on day D — and how sure?”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 Forecast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Fleet Twin of aircraft, spares, BRD/HAL repair pipeline, bays and manpower runs 200 Monte-Carlo futures → P10–P90 aircraft per day and P(meet task).</a:t>
            </a:r>
            <a:endParaRPr lang="en-US" sz="1500" dirty="0"/>
          </a:p>
        </p:txBody>
      </p:sp>
      <p:sp>
        <p:nvSpPr>
          <p:cNvPr id="8" name="q-card"/>
          <p:cNvSpPr/>
          <p:nvPr/>
        </p:nvSpPr>
        <p:spPr>
          <a:xfrm>
            <a:off x="457200" y="333756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q-circle"/>
          <p:cNvSpPr/>
          <p:nvPr/>
        </p:nvSpPr>
        <p:spPr>
          <a:xfrm>
            <a:off x="685800" y="36118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q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" y="3809390"/>
            <a:ext cx="427939" cy="427939"/>
          </a:xfrm>
          <a:prstGeom prst="rect">
            <a:avLst/>
          </a:prstGeom>
        </p:spPr>
      </p:pic>
      <p:sp>
        <p:nvSpPr>
          <p:cNvPr id="11" name="q-text"/>
          <p:cNvSpPr txBox="1"/>
          <p:nvPr/>
        </p:nvSpPr>
        <p:spPr>
          <a:xfrm>
            <a:off x="1737360" y="3429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“What must I do today to have N ready?”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Readiness-Backward Planner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Optimises flying hours per tail, check timing, spares transfers, depot priority and cannibalisation; shows each action’s readiness gain; a human approves.</a:t>
            </a:r>
            <a:endParaRPr lang="en-US" sz="1500" dirty="0"/>
          </a:p>
        </p:txBody>
      </p:sp>
      <p:sp>
        <p:nvSpPr>
          <p:cNvPr id="12" name="q-card"/>
          <p:cNvSpPr/>
          <p:nvPr/>
        </p:nvSpPr>
        <p:spPr>
          <a:xfrm>
            <a:off x="457200" y="484632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q-circle"/>
          <p:cNvSpPr/>
          <p:nvPr/>
        </p:nvSpPr>
        <p:spPr>
          <a:xfrm>
            <a:off x="685800" y="51206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q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" y="5318150"/>
            <a:ext cx="427939" cy="427939"/>
          </a:xfrm>
          <a:prstGeom prst="rect">
            <a:avLst/>
          </a:prstGeom>
        </p:spPr>
      </p:pic>
      <p:sp>
        <p:nvSpPr>
          <p:cNvPr id="15" name="q-text"/>
          <p:cNvSpPr txBox="1"/>
          <p:nvPr/>
        </p:nvSpPr>
        <p:spPr>
          <a:xfrm>
            <a:off x="173736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“Where is readiness lost — and why?”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Readiness-Loss Waterfall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Aircraft-days lost to spares, scheduled and unscheduled work, depot and manpower, with the days each lever could recover.</a:t>
            </a:r>
            <a:endParaRPr lang="en-US" sz="1500" dirty="0"/>
          </a:p>
        </p:txBody>
      </p:sp>
      <p:sp>
        <p:nvSpPr>
          <p:cNvPr id="16" name="unique-card"/>
          <p:cNvSpPr/>
          <p:nvPr/>
        </p:nvSpPr>
        <p:spPr>
          <a:xfrm>
            <a:off x="7680960" y="1828800"/>
            <a:ext cx="4050792" cy="4389120"/>
          </a:xfrm>
          <a:prstGeom prst="roundRect">
            <a:avLst>
              <a:gd name="adj" fmla="val 27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unique-head"/>
          <p:cNvSpPr txBox="1"/>
          <p:nvPr/>
        </p:nvSpPr>
        <p:spPr>
          <a:xfrm>
            <a:off x="795528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What is unique</a:t>
            </a:r>
            <a:endParaRPr lang="en-US" sz="2000" dirty="0"/>
          </a:p>
        </p:txBody>
      </p:sp>
      <p:sp>
        <p:nvSpPr>
          <p:cNvPr id="18" name="unique-list"/>
          <p:cNvSpPr txBox="1"/>
          <p:nvPr/>
        </p:nvSpPr>
        <p:spPr>
          <a:xfrm>
            <a:off x="7955280" y="2514600"/>
            <a:ext cx="3611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Twin of the sustainment system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not a 3D model of one aircraft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Calibrated RUL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conformal 90 % intervals + engine-module attribution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Prognostics-aware flight &amp; maintenance planning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staggered checks, bundled repairs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Multi-echelon spares (VARI-METRIC)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fed by predicted demand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No-Fault-Found, rogue-unit &amp; cannibalisation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analytics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Indian base environment severity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from real dust data; offline &amp; federated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Technical Approach</a:t>
            </a:r>
            <a:endParaRPr lang="en-US" sz="3600" dirty="0"/>
          </a:p>
        </p:txBody>
      </p:sp>
      <p:pic>
        <p:nvPicPr>
          <p:cNvPr id="3" name="architecture" descr="/home/user/air-power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43800" cy="4480560"/>
          </a:xfrm>
          <a:prstGeom prst="rect">
            <a:avLst/>
          </a:prstGeom>
        </p:spPr>
      </p:pic>
      <p:sp>
        <p:nvSpPr>
          <p:cNvPr id="4" name="stack-card"/>
          <p:cNvSpPr/>
          <p:nvPr/>
        </p:nvSpPr>
        <p:spPr>
          <a:xfrm>
            <a:off x="8229600" y="1097280"/>
            <a:ext cx="3502152" cy="4480560"/>
          </a:xfrm>
          <a:prstGeom prst="roundRect">
            <a:avLst>
              <a:gd name="adj" fmla="val 3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ck-head"/>
          <p:cNvSpPr txBox="1"/>
          <p:nvPr/>
        </p:nvSpPr>
        <p:spPr>
          <a:xfrm>
            <a:off x="841248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Technology stack</a:t>
            </a:r>
            <a:endParaRPr lang="en-US" sz="1800" dirty="0"/>
          </a:p>
        </p:txBody>
      </p:sp>
      <p:sp>
        <p:nvSpPr>
          <p:cNvPr id="6" name="stack-list"/>
          <p:cNvSpPr txBox="1"/>
          <p:nvPr/>
        </p:nvSpPr>
        <p:spPr>
          <a:xfrm>
            <a:off x="8412480" y="164592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Prognostics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LightGBM quantile + conformal (CQR), SHAP, Weibull AFT (lifelines)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Twin &amp; optimisation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NumPy Monte-Carlo Fleet Twin, OR-Tools CP-SAT, VARI-METRIC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FastAPI · React + TypeScript · ECharts · SQLite → Postgres/TimescaleDB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Data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NASA C-MAPSS, MaintNet logbooks, CAMS dust, notional synthetic fleet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Deploy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Docker, fully offline on CPU laptop / edge server</a:t>
            </a:r>
            <a:endParaRPr lang="en-US" sz="1300" dirty="0"/>
          </a:p>
        </p:txBody>
      </p:sp>
      <p:sp>
        <p:nvSpPr>
          <p:cNvPr id="7" name="step-Integrate"/>
          <p:cNvSpPr/>
          <p:nvPr/>
        </p:nvSpPr>
        <p:spPr>
          <a:xfrm>
            <a:off x="457200" y="5760720"/>
            <a:ext cx="1828800" cy="502920"/>
          </a:xfrm>
          <a:prstGeom prst="homePlat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step-label-Integrate"/>
          <p:cNvSpPr txBox="1"/>
          <p:nvPr/>
        </p:nvSpPr>
        <p:spPr>
          <a:xfrm>
            <a:off x="685800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Integrate</a:t>
            </a:r>
            <a:endParaRPr lang="en-US" sz="1400" dirty="0"/>
          </a:p>
        </p:txBody>
      </p:sp>
      <p:sp>
        <p:nvSpPr>
          <p:cNvPr id="9" name="step-Predict"/>
          <p:cNvSpPr/>
          <p:nvPr/>
        </p:nvSpPr>
        <p:spPr>
          <a:xfrm>
            <a:off x="2346350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tep-label-Predict"/>
          <p:cNvSpPr txBox="1"/>
          <p:nvPr/>
        </p:nvSpPr>
        <p:spPr>
          <a:xfrm>
            <a:off x="2574950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Predict</a:t>
            </a:r>
            <a:endParaRPr lang="en-US" sz="1400" dirty="0"/>
          </a:p>
        </p:txBody>
      </p:sp>
      <p:sp>
        <p:nvSpPr>
          <p:cNvPr id="11" name="step-Simulate"/>
          <p:cNvSpPr/>
          <p:nvPr/>
        </p:nvSpPr>
        <p:spPr>
          <a:xfrm>
            <a:off x="4235501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tep-label-Simulate"/>
          <p:cNvSpPr txBox="1"/>
          <p:nvPr/>
        </p:nvSpPr>
        <p:spPr>
          <a:xfrm>
            <a:off x="4464101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Simulate</a:t>
            </a:r>
            <a:endParaRPr lang="en-US" sz="1400" dirty="0"/>
          </a:p>
        </p:txBody>
      </p:sp>
      <p:sp>
        <p:nvSpPr>
          <p:cNvPr id="13" name="step-Optimise"/>
          <p:cNvSpPr/>
          <p:nvPr/>
        </p:nvSpPr>
        <p:spPr>
          <a:xfrm>
            <a:off x="6124651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step-label-Optimise"/>
          <p:cNvSpPr txBox="1"/>
          <p:nvPr/>
        </p:nvSpPr>
        <p:spPr>
          <a:xfrm>
            <a:off x="6353251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Optimise</a:t>
            </a:r>
            <a:endParaRPr lang="en-US" sz="1400" dirty="0"/>
          </a:p>
        </p:txBody>
      </p:sp>
      <p:sp>
        <p:nvSpPr>
          <p:cNvPr id="15" name="step-Approve"/>
          <p:cNvSpPr/>
          <p:nvPr/>
        </p:nvSpPr>
        <p:spPr>
          <a:xfrm>
            <a:off x="8013802" y="5760720"/>
            <a:ext cx="1828800" cy="5029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-label-Approve"/>
          <p:cNvSpPr txBox="1"/>
          <p:nvPr/>
        </p:nvSpPr>
        <p:spPr>
          <a:xfrm>
            <a:off x="8242402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Approve</a:t>
            </a:r>
            <a:endParaRPr lang="en-US" sz="1400" dirty="0"/>
          </a:p>
        </p:txBody>
      </p:sp>
      <p:sp>
        <p:nvSpPr>
          <p:cNvPr id="17" name="step-Learn"/>
          <p:cNvSpPr/>
          <p:nvPr/>
        </p:nvSpPr>
        <p:spPr>
          <a:xfrm>
            <a:off x="9902952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step-label-Learn"/>
          <p:cNvSpPr txBox="1"/>
          <p:nvPr/>
        </p:nvSpPr>
        <p:spPr>
          <a:xfrm>
            <a:off x="10131552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Learn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 &amp; Viability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457200" y="1188720"/>
            <a:ext cx="3566160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big-0"/>
          <p:cNvSpPr txBox="1"/>
          <p:nvPr/>
        </p:nvSpPr>
        <p:spPr>
          <a:xfrm>
            <a:off x="685800" y="12984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100 %</a:t>
            </a:r>
            <a:endParaRPr lang="en-US" sz="3600" dirty="0"/>
          </a:p>
        </p:txBody>
      </p:sp>
      <p:sp>
        <p:nvSpPr>
          <p:cNvPr id="5" name="stat-label-0"/>
          <p:cNvSpPr txBox="1"/>
          <p:nvPr/>
        </p:nvSpPr>
        <p:spPr>
          <a:xfrm>
            <a:off x="685800" y="193852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public + synthetic data — no classified inputs needed to build or demo</a:t>
            </a:r>
            <a:endParaRPr lang="en-US" sz="1300" dirty="0"/>
          </a:p>
        </p:txBody>
      </p:sp>
      <p:sp>
        <p:nvSpPr>
          <p:cNvPr id="6" name="stat-1"/>
          <p:cNvSpPr/>
          <p:nvPr/>
        </p:nvSpPr>
        <p:spPr>
          <a:xfrm>
            <a:off x="457200" y="2807208"/>
            <a:ext cx="3566160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big-1"/>
          <p:cNvSpPr txBox="1"/>
          <p:nvPr/>
        </p:nvSpPr>
        <p:spPr>
          <a:xfrm>
            <a:off x="685800" y="29169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8" name="stat-label-1"/>
          <p:cNvSpPr txBox="1"/>
          <p:nvPr/>
        </p:nvSpPr>
        <p:spPr>
          <a:xfrm>
            <a:off x="685800" y="35570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cloud dependencies at runtime — runs air-gapped on a CPU laptop or edge server</a:t>
            </a:r>
            <a:endParaRPr lang="en-US" sz="1300" dirty="0"/>
          </a:p>
        </p:txBody>
      </p:sp>
      <p:sp>
        <p:nvSpPr>
          <p:cNvPr id="9" name="stat-2"/>
          <p:cNvSpPr/>
          <p:nvPr/>
        </p:nvSpPr>
        <p:spPr>
          <a:xfrm>
            <a:off x="457200" y="4425696"/>
            <a:ext cx="3566160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big-2"/>
          <p:cNvSpPr txBox="1"/>
          <p:nvPr/>
        </p:nvSpPr>
        <p:spPr>
          <a:xfrm>
            <a:off x="685800" y="453542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Proven</a:t>
            </a:r>
            <a:endParaRPr lang="en-US" sz="36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85800" y="5175504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methods from published air-force research (Hellenic, French, Finnish FMP; USAF sparing)</a:t>
            </a:r>
            <a:endParaRPr lang="en-US" sz="1300" dirty="0"/>
          </a:p>
        </p:txBody>
      </p:sp>
      <p:graphicFrame>
        <p:nvGraphicFramePr>
          <p:cNvPr id="5" name="ri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188720"/>
          <a:ext cx="74340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919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 /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built into TATPAR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access to real IAF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datasets + synthetic fleet with hidden ground truth; adapters for IMMOLS / e-MMS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in AI recommendations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intervals, explanations, human approval, hash-chained audit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Classified, air-gapped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offline; federated learning shares only model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and paper records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data model (S5000F / ATA), CSV/Excel adapters, data-quality scores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 run-time at 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horizon, warm start, time-limited CP-SAT, per-squadron decomposition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3" name="path-head"/>
          <p:cNvSpPr txBox="1"/>
          <p:nvPr/>
        </p:nvSpPr>
        <p:spPr>
          <a:xfrm>
            <a:off x="42976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Path to deployment</a:t>
            </a:r>
            <a:endParaRPr lang="en-US" sz="1600" dirty="0"/>
          </a:p>
        </p:txBody>
      </p:sp>
      <p:sp>
        <p:nvSpPr>
          <p:cNvPr id="14" name="path-dot-0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path-num-0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path-text-0"/>
          <p:cNvSpPr txBox="1"/>
          <p:nvPr/>
        </p:nvSpPr>
        <p:spPr>
          <a:xfrm>
            <a:off x="4754880" y="51983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SIH prototype</a:t>
            </a:r>
            <a:endParaRPr lang="en-US" sz="1200" dirty="0"/>
          </a:p>
        </p:txBody>
      </p:sp>
      <p:sp>
        <p:nvSpPr>
          <p:cNvPr id="17" name="path-dot-1"/>
          <p:cNvSpPr/>
          <p:nvPr/>
        </p:nvSpPr>
        <p:spPr>
          <a:xfrm>
            <a:off x="6199632" y="53492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path-num-1"/>
          <p:cNvSpPr txBox="1"/>
          <p:nvPr/>
        </p:nvSpPr>
        <p:spPr>
          <a:xfrm>
            <a:off x="6199632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path-text-1"/>
          <p:cNvSpPr txBox="1"/>
          <p:nvPr/>
        </p:nvSpPr>
        <p:spPr>
          <a:xfrm>
            <a:off x="6656832" y="51983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on one squadron’s historical exports</a:t>
            </a:r>
            <a:endParaRPr lang="en-US" sz="1200" dirty="0"/>
          </a:p>
        </p:txBody>
      </p:sp>
      <p:sp>
        <p:nvSpPr>
          <p:cNvPr id="20" name="path-dot-2"/>
          <p:cNvSpPr/>
          <p:nvPr/>
        </p:nvSpPr>
        <p:spPr>
          <a:xfrm>
            <a:off x="8101584" y="53492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path-num-2"/>
          <p:cNvSpPr txBox="1"/>
          <p:nvPr/>
        </p:nvSpPr>
        <p:spPr>
          <a:xfrm>
            <a:off x="8101584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path-text-2"/>
          <p:cNvSpPr txBox="1"/>
          <p:nvPr/>
        </p:nvSpPr>
        <p:spPr>
          <a:xfrm>
            <a:off x="8558784" y="51983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BRD + IMMOLS integration</a:t>
            </a:r>
            <a:endParaRPr lang="en-US" sz="1200" dirty="0"/>
          </a:p>
        </p:txBody>
      </p:sp>
      <p:sp>
        <p:nvSpPr>
          <p:cNvPr id="23" name="path-dot-3"/>
          <p:cNvSpPr/>
          <p:nvPr/>
        </p:nvSpPr>
        <p:spPr>
          <a:xfrm>
            <a:off x="10003536" y="53492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path-num-3"/>
          <p:cNvSpPr txBox="1"/>
          <p:nvPr/>
        </p:nvSpPr>
        <p:spPr>
          <a:xfrm>
            <a:off x="10003536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path-text-3"/>
          <p:cNvSpPr txBox="1"/>
          <p:nvPr/>
        </p:nvSpPr>
        <p:spPr>
          <a:xfrm>
            <a:off x="10460736" y="51983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Command-wide rollout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Impact &amp; Benefits</a:t>
            </a:r>
            <a:endParaRPr lang="en-US" sz="3600" dirty="0"/>
          </a:p>
        </p:txBody>
      </p:sp>
      <p:sp>
        <p:nvSpPr>
          <p:cNvPr id="3" name="impact-0"/>
          <p:cNvSpPr/>
          <p:nvPr/>
        </p:nvSpPr>
        <p:spPr>
          <a:xfrm>
            <a:off x="457200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mpact-big-0"/>
          <p:cNvSpPr txBox="1"/>
          <p:nvPr/>
        </p:nvSpPr>
        <p:spPr>
          <a:xfrm>
            <a:off x="685800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~40 %</a:t>
            </a:r>
            <a:endParaRPr lang="en-US" sz="4000" dirty="0"/>
          </a:p>
        </p:txBody>
      </p:sp>
      <p:sp>
        <p:nvSpPr>
          <p:cNvPr id="5" name="impact-label-0"/>
          <p:cNvSpPr txBox="1"/>
          <p:nvPr/>
        </p:nvSpPr>
        <p:spPr>
          <a:xfrm>
            <a:off x="685800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fighters reported unserviceable at any time (post-Op Sindoor commentary)</a:t>
            </a:r>
            <a:endParaRPr lang="en-US" sz="1300" dirty="0"/>
          </a:p>
        </p:txBody>
      </p:sp>
      <p:sp>
        <p:nvSpPr>
          <p:cNvPr id="6" name="impact-1"/>
          <p:cNvSpPr/>
          <p:nvPr/>
        </p:nvSpPr>
        <p:spPr>
          <a:xfrm>
            <a:off x="4279392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impact-big-1"/>
          <p:cNvSpPr txBox="1"/>
          <p:nvPr/>
        </p:nvSpPr>
        <p:spPr>
          <a:xfrm>
            <a:off x="4507992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20–70 %</a:t>
            </a:r>
            <a:endParaRPr lang="en-US" sz="4000" dirty="0"/>
          </a:p>
        </p:txBody>
      </p:sp>
      <p:sp>
        <p:nvSpPr>
          <p:cNvPr id="8" name="impact-label-1"/>
          <p:cNvSpPr txBox="1"/>
          <p:nvPr/>
        </p:nvSpPr>
        <p:spPr>
          <a:xfrm>
            <a:off x="4507992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military avionics removals end as No-Fault-Found — wasted spares and repair slots</a:t>
            </a:r>
            <a:endParaRPr lang="en-US" sz="1300" dirty="0"/>
          </a:p>
        </p:txBody>
      </p:sp>
      <p:sp>
        <p:nvSpPr>
          <p:cNvPr id="9" name="impact-2"/>
          <p:cNvSpPr/>
          <p:nvPr/>
        </p:nvSpPr>
        <p:spPr>
          <a:xfrm>
            <a:off x="8101584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mpact-big-2"/>
          <p:cNvSpPr txBox="1"/>
          <p:nvPr/>
        </p:nvSpPr>
        <p:spPr>
          <a:xfrm>
            <a:off x="8330184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≈ 5–6</a:t>
            </a:r>
            <a:endParaRPr lang="en-US" sz="4000" dirty="0"/>
          </a:p>
        </p:txBody>
      </p:sp>
      <p:sp>
        <p:nvSpPr>
          <p:cNvPr id="11" name="impact-label-2"/>
          <p:cNvSpPr txBox="1"/>
          <p:nvPr/>
        </p:nvSpPr>
        <p:spPr>
          <a:xfrm>
            <a:off x="8330184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mission-capable fighters for every +1 point of availability on a ~550-fighter fleet (illustrative)</a:t>
            </a:r>
            <a:endParaRPr lang="en-US" sz="1300" dirty="0"/>
          </a:p>
        </p:txBody>
      </p:sp>
      <p:sp>
        <p:nvSpPr>
          <p:cNvPr id="12" name="who-head"/>
          <p:cNvSpPr txBox="1"/>
          <p:nvPr/>
        </p:nvSpPr>
        <p:spPr>
          <a:xfrm>
            <a:off x="457200" y="2971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Who benefits</a:t>
            </a:r>
            <a:endParaRPr lang="en-US" sz="1800" dirty="0"/>
          </a:p>
        </p:txBody>
      </p:sp>
      <p:sp>
        <p:nvSpPr>
          <p:cNvPr id="13" name="who-circle"/>
          <p:cNvSpPr/>
          <p:nvPr/>
        </p:nvSpPr>
        <p:spPr>
          <a:xfrm>
            <a:off x="457200" y="3474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who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3595421"/>
            <a:ext cx="261518" cy="261518"/>
          </a:xfrm>
          <a:prstGeom prst="rect">
            <a:avLst/>
          </a:prstGeom>
        </p:spPr>
      </p:pic>
      <p:sp>
        <p:nvSpPr>
          <p:cNvPr id="15" name="who-text"/>
          <p:cNvSpPr txBox="1"/>
          <p:nvPr/>
        </p:nvSpPr>
        <p:spPr>
          <a:xfrm>
            <a:off x="1097280" y="342900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Commander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 aircraft on day D, with a stated confidence</a:t>
            </a:r>
            <a:endParaRPr lang="en-US" sz="1300" dirty="0"/>
          </a:p>
        </p:txBody>
      </p:sp>
      <p:sp>
        <p:nvSpPr>
          <p:cNvPr id="16" name="who-circle"/>
          <p:cNvSpPr/>
          <p:nvPr/>
        </p:nvSpPr>
        <p:spPr>
          <a:xfrm>
            <a:off x="457200" y="41788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who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4299509"/>
            <a:ext cx="261518" cy="261518"/>
          </a:xfrm>
          <a:prstGeom prst="rect">
            <a:avLst/>
          </a:prstGeom>
        </p:spPr>
      </p:pic>
      <p:sp>
        <p:nvSpPr>
          <p:cNvPr id="18" name="who-text"/>
          <p:cNvSpPr txBox="1"/>
          <p:nvPr/>
        </p:nvSpPr>
        <p:spPr>
          <a:xfrm>
            <a:off x="1097280" y="41330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Squadron Engineering Officer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Which tails fly, which go in, what to bundle</a:t>
            </a:r>
            <a:endParaRPr lang="en-US" sz="1300" dirty="0"/>
          </a:p>
        </p:txBody>
      </p:sp>
      <p:sp>
        <p:nvSpPr>
          <p:cNvPr id="19" name="who-circle"/>
          <p:cNvSpPr/>
          <p:nvPr/>
        </p:nvSpPr>
        <p:spPr>
          <a:xfrm>
            <a:off x="457200" y="488289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who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5003597"/>
            <a:ext cx="261518" cy="261518"/>
          </a:xfrm>
          <a:prstGeom prst="rect">
            <a:avLst/>
          </a:prstGeom>
        </p:spPr>
      </p:pic>
      <p:sp>
        <p:nvSpPr>
          <p:cNvPr id="21" name="who-text"/>
          <p:cNvSpPr txBox="1"/>
          <p:nvPr/>
        </p:nvSpPr>
        <p:spPr>
          <a:xfrm>
            <a:off x="1097280" y="4837176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Logistics Officer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 to stock, move or expedite — and where</a:t>
            </a:r>
            <a:endParaRPr lang="en-US" sz="1300" dirty="0"/>
          </a:p>
        </p:txBody>
      </p:sp>
      <p:sp>
        <p:nvSpPr>
          <p:cNvPr id="22" name="who-circle"/>
          <p:cNvSpPr/>
          <p:nvPr/>
        </p:nvSpPr>
        <p:spPr>
          <a:xfrm>
            <a:off x="457200" y="558698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who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5707685"/>
            <a:ext cx="261518" cy="261518"/>
          </a:xfrm>
          <a:prstGeom prst="rect">
            <a:avLst/>
          </a:prstGeom>
        </p:spPr>
      </p:pic>
      <p:sp>
        <p:nvSpPr>
          <p:cNvPr id="24" name="who-text"/>
          <p:cNvSpPr txBox="1"/>
          <p:nvPr/>
        </p:nvSpPr>
        <p:spPr>
          <a:xfrm>
            <a:off x="1097280" y="5541264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BRD / Depot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Which repairs add the most readiness first</a:t>
            </a:r>
            <a:endParaRPr lang="en-US" sz="1300" dirty="0"/>
          </a:p>
        </p:txBody>
      </p:sp>
      <p:sp>
        <p:nvSpPr>
          <p:cNvPr id="25" name="benefit-card"/>
          <p:cNvSpPr/>
          <p:nvPr/>
        </p:nvSpPr>
        <p:spPr>
          <a:xfrm>
            <a:off x="5852160" y="2971800"/>
            <a:ext cx="5879592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en-circle"/>
          <p:cNvSpPr/>
          <p:nvPr/>
        </p:nvSpPr>
        <p:spPr>
          <a:xfrm>
            <a:off x="6080760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ben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461" y="3275381"/>
            <a:ext cx="261518" cy="261518"/>
          </a:xfrm>
          <a:prstGeom prst="rect">
            <a:avLst/>
          </a:prstGeom>
        </p:spPr>
      </p:pic>
      <p:sp>
        <p:nvSpPr>
          <p:cNvPr id="28" name="ben-text"/>
          <p:cNvSpPr txBox="1"/>
          <p:nvPr/>
        </p:nvSpPr>
        <p:spPr>
          <a:xfrm>
            <a:off x="6720840" y="3108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Operational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aircraft from the same fleet; surge plans with known odds</a:t>
            </a:r>
            <a:endParaRPr lang="en-US" sz="1300" dirty="0"/>
          </a:p>
        </p:txBody>
      </p:sp>
      <p:sp>
        <p:nvSpPr>
          <p:cNvPr id="29" name="ben-circle"/>
          <p:cNvSpPr/>
          <p:nvPr/>
        </p:nvSpPr>
        <p:spPr>
          <a:xfrm>
            <a:off x="6080760" y="39044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ben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1461" y="4025189"/>
            <a:ext cx="261518" cy="261518"/>
          </a:xfrm>
          <a:prstGeom prst="rect">
            <a:avLst/>
          </a:prstGeom>
        </p:spPr>
      </p:pic>
      <p:sp>
        <p:nvSpPr>
          <p:cNvPr id="31" name="ben-text"/>
          <p:cNvSpPr txBox="1"/>
          <p:nvPr/>
        </p:nvSpPr>
        <p:spPr>
          <a:xfrm>
            <a:off x="6720840" y="38587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Economic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Spares bought for availability per rupee; fewer NFF and repeat repairs</a:t>
            </a:r>
            <a:endParaRPr lang="en-US" sz="1300" dirty="0"/>
          </a:p>
        </p:txBody>
      </p:sp>
      <p:sp>
        <p:nvSpPr>
          <p:cNvPr id="32" name="ben-circle"/>
          <p:cNvSpPr/>
          <p:nvPr/>
        </p:nvSpPr>
        <p:spPr>
          <a:xfrm>
            <a:off x="6080760" y="46542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ben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1461" y="4774997"/>
            <a:ext cx="261518" cy="261518"/>
          </a:xfrm>
          <a:prstGeom prst="rect">
            <a:avLst/>
          </a:prstGeom>
        </p:spPr>
      </p:pic>
      <p:sp>
        <p:nvSpPr>
          <p:cNvPr id="34" name="ben-text"/>
          <p:cNvSpPr txBox="1"/>
          <p:nvPr/>
        </p:nvSpPr>
        <p:spPr>
          <a:xfrm>
            <a:off x="6720840" y="46085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Strategic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Sovereign, offline software; supply-risk visibility for indigenisation</a:t>
            </a:r>
            <a:endParaRPr lang="en-US" sz="1300" dirty="0"/>
          </a:p>
        </p:txBody>
      </p:sp>
      <p:sp>
        <p:nvSpPr>
          <p:cNvPr id="35" name="ben-circle"/>
          <p:cNvSpPr/>
          <p:nvPr/>
        </p:nvSpPr>
        <p:spPr>
          <a:xfrm>
            <a:off x="6080760" y="54041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ben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1461" y="5524805"/>
            <a:ext cx="261518" cy="261518"/>
          </a:xfrm>
          <a:prstGeom prst="rect">
            <a:avLst/>
          </a:prstGeom>
        </p:spPr>
      </p:pic>
      <p:sp>
        <p:nvSpPr>
          <p:cNvPr id="37" name="ben-text"/>
          <p:cNvSpPr txBox="1"/>
          <p:nvPr/>
        </p:nvSpPr>
        <p:spPr>
          <a:xfrm>
            <a:off x="6720840" y="53583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Safety &amp; people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Fewer cannibalisations; chronic defects caught early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Research &amp; References</a:t>
            </a:r>
            <a:endParaRPr lang="en-US" sz="3600" dirty="0"/>
          </a:p>
        </p:txBody>
      </p:sp>
      <p:sp>
        <p:nvSpPr>
          <p:cNvPr id="3" name="ref-card-0"/>
          <p:cNvSpPr/>
          <p:nvPr/>
        </p:nvSpPr>
        <p:spPr>
          <a:xfrm>
            <a:off x="457200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ref-head-0"/>
          <p:cNvSpPr txBox="1"/>
          <p:nvPr/>
        </p:nvSpPr>
        <p:spPr>
          <a:xfrm>
            <a:off x="685800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IAF context</a:t>
            </a:r>
            <a:endParaRPr lang="en-US" sz="1800" dirty="0"/>
          </a:p>
        </p:txBody>
      </p:sp>
      <p:sp>
        <p:nvSpPr>
          <p:cNvPr id="5" name="ref-list-0"/>
          <p:cNvSpPr txBox="1"/>
          <p:nvPr/>
        </p:nvSpPr>
        <p:spPr>
          <a:xfrm>
            <a:off x="685800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Business Standard (2014) — Su‑30MKI serviceability 48–55 %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CAPS Issue Brief 08/25 — AI in IAF logistics, IMMOLS, e-MMS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The Week (Aug 2026) — ML for Sukhoi and Tejas fleets, edge AI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Defense Mirror — 11 BRD Ojhar Su‑30MKI overhaul</a:t>
            </a:r>
            <a:endParaRPr lang="en-US" sz="1400" dirty="0"/>
          </a:p>
        </p:txBody>
      </p:sp>
      <p:sp>
        <p:nvSpPr>
          <p:cNvPr id="6" name="ref-card-1"/>
          <p:cNvSpPr/>
          <p:nvPr/>
        </p:nvSpPr>
        <p:spPr>
          <a:xfrm>
            <a:off x="4279392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ref-head-1"/>
          <p:cNvSpPr txBox="1"/>
          <p:nvPr/>
        </p:nvSpPr>
        <p:spPr>
          <a:xfrm>
            <a:off x="4507992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Operations research</a:t>
            </a:r>
            <a:endParaRPr lang="en-US" sz="1800" dirty="0"/>
          </a:p>
        </p:txBody>
      </p:sp>
      <p:sp>
        <p:nvSpPr>
          <p:cNvPr id="8" name="ref-list-1"/>
          <p:cNvSpPr txBox="1"/>
          <p:nvPr/>
        </p:nvSpPr>
        <p:spPr>
          <a:xfrm>
            <a:off x="4507992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Kozanidis — Flight &amp; maintenance planning, Hellenic AF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Peschiera et al. — Long-term FMP, French AF (arXiv 2001.09856)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Mattila &amp; Virtanen (2014) — Fighter maintenance sim-optimisation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Sherbrooke — VARI-METRIC, Operations Research (1986)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GAO-02-86 — Military aircraft cannibalisations</a:t>
            </a:r>
            <a:endParaRPr lang="en-US" sz="1400" dirty="0"/>
          </a:p>
        </p:txBody>
      </p:sp>
      <p:sp>
        <p:nvSpPr>
          <p:cNvPr id="9" name="ref-card-2"/>
          <p:cNvSpPr/>
          <p:nvPr/>
        </p:nvSpPr>
        <p:spPr>
          <a:xfrm>
            <a:off x="8101584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ref-head-2"/>
          <p:cNvSpPr txBox="1"/>
          <p:nvPr/>
        </p:nvSpPr>
        <p:spPr>
          <a:xfrm>
            <a:off x="8330184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Prognostics &amp; AI</a:t>
            </a:r>
            <a:endParaRPr lang="en-US" sz="1800" dirty="0"/>
          </a:p>
        </p:txBody>
      </p:sp>
      <p:sp>
        <p:nvSpPr>
          <p:cNvPr id="11" name="ref-list-2"/>
          <p:cNvSpPr txBox="1"/>
          <p:nvPr/>
        </p:nvSpPr>
        <p:spPr>
          <a:xfrm>
            <a:off x="8330184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Saxena et al. (2008) — NASA C-MAPSS turbofan dataset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LSTM quantile + conformal RUL — Sensors 26(7) 2249 (2026)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Federated RUL prognostics — arXiv 2506.00499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MaintNet aviation logbooks — COLING 2020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DST-Group-TR-3367 — dust-driven engine degradation</a:t>
            </a:r>
            <a:endParaRPr lang="en-US" sz="1400" dirty="0"/>
          </a:p>
        </p:txBody>
      </p:sp>
      <p:sp>
        <p:nvSpPr>
          <p:cNvPr id="12" name="gap-note"/>
          <p:cNvSpPr txBox="1"/>
          <p:nvPr/>
        </p:nvSpPr>
        <p:spPr>
          <a:xfrm>
            <a:off x="457200" y="51206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Gap analysis: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7 public PS-26249 projects reviewed (NIRANTAR, AERO-READY, AeroTwin-AI, AirPower, PREDIX, VAYU SEWA) — none model flight &amp; maintenance planning, multi-echelon sparing or probabilistic readiness. Prototype figures use a notional fleet; no classified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TPAR Readiness">
  <a:themeElements>
    <a:clrScheme name="TATPAR Readiness">
      <a:dk1>
        <a:srgbClr val="0B1B33"/>
      </a:dk1>
      <a:lt1>
        <a:srgbClr val="FFFFFF"/>
      </a:lt1>
      <a:dk2>
        <a:srgbClr val="1E3A5F"/>
      </a:dk2>
      <a:lt2>
        <a:srgbClr val="EEF3F8"/>
      </a:lt2>
      <a:accent1>
        <a:srgbClr val="E8871E"/>
      </a:accent1>
      <a:accent2>
        <a:srgbClr val="0F766E"/>
      </a:accent2>
      <a:accent3>
        <a:srgbClr val="3B82C4"/>
      </a:accent3>
      <a:accent4>
        <a:srgbClr val="7C3AED"/>
      </a:accent4>
      <a:accent5>
        <a:srgbClr val="B45309"/>
      </a:accent5>
      <a:accent6>
        <a:srgbClr val="64748B"/>
      </a:accent6>
      <a:hlink>
        <a:srgbClr val="2563EB"/>
      </a:hlink>
      <a:folHlink>
        <a:srgbClr val="7C3AED"/>
      </a:folHlink>
    </a:clrScheme>
    <a:fontScheme name="TATPAR Readines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TATPAR — SIH 2026 PS 26249</dc:title>
  <dc:subject>PptxGenJS Presentation</dc:subject>
  <dc:creator>TATPAR team</dc:creator>
  <cp:lastModifiedBy>TATPAR team</cp:lastModifiedBy>
  <cp:revision>1</cp:revision>
  <dcterms:created xsi:type="dcterms:W3CDTF">2026-10-05T05:08:36Z</dcterms:created>
  <dcterms:modified xsi:type="dcterms:W3CDTF">2026-10-05T05:08:36Z</dcterms:modified>
</cp:coreProperties>
</file>