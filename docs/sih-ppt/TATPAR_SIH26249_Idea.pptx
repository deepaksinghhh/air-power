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c9799bd6-d6b9-1dde-5dc0-2e4575c8f8ee}">
          <p14:sldIdLst>
            <p14:sldId id="256"/>
          </p14:sldIdLst>
        </p14:section>
        <p14:section name="Solution" id="{7c08ca7b-f93e-ce4a-6bdf-7e6d3df63e76}">
          <p14:sldIdLst>
            <p14:sldId id="257"/>
          </p14:sldIdLst>
        </p14:section>
        <p14:section name="Approach" id="{40df29c1-2c5c-5c7e-a3b0-0c6e139510a3}">
          <p14:sldIdLst>
            <p14:sldId id="258"/>
          </p14:sldIdLst>
        </p14:section>
        <p14:section name="Feasibility" id="{09e97808-f168-e1ac-1723-6da934f268ba}">
          <p14:sldIdLst>
            <p14:sldId id="259"/>
          </p14:sldIdLst>
        </p14:section>
        <p14:section name="Impact" id="{32a32ac3-ab12-a3d2-d795-21a08530ebb5}">
          <p14:sldIdLst>
            <p14:sldId id="260"/>
          </p14:sldIdLst>
        </p14:section>
        <p14:section name="References" id="{96d20cc5-a414-accf-71c5-8c304a357ea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in the SIH template order. Fill Team ID and Team Name before exporting to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other PS-26249 team answers 'which aircraft might fail'. TATPAR answers the three commander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layers: data fabric, intelligence, fleet twin, decision engines, experience, trust. Unit data (HUMS, tech log, IMMOLS, BRD/HAL) is imported against published contracts and changes beliefs and the plan; models retrain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Feasible today: every building block exists in open-source tooling; the novelty is in combining them around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figures are from open sources (see references). The third is measured in the TATPAR prototype on a notional fleet: +20.2 ± 0.5 points over one year, 24 hidden-truth futures. Rupee figure: MoD–HAL contract of Dec 2024, ₹13,500 crore for 12 Su-30MKI with associated equipment (₹1,125 crore each) × 13; illustrative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link list in docs/01-research.md.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SIH 2026  ·  PS 26249  ·  TATPAR — Readiness Assurance for Air Fleets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SIH 2026  ·  PS 26249  ·  TATPAR — Readiness Assurance for Air Fleets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54864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SMART INDIA HACKATHON 2026</a:t>
            </a:r>
            <a:endParaRPr lang="en-US" sz="1400" dirty="0"/>
          </a:p>
        </p:txBody>
      </p:sp>
      <p:sp>
        <p:nvSpPr>
          <p:cNvPr id="3" name="product-name"/>
          <p:cNvSpPr txBox="1"/>
          <p:nvPr/>
        </p:nvSpPr>
        <p:spPr>
          <a:xfrm>
            <a:off x="548640" y="1143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TATPAR</a:t>
            </a:r>
            <a:endParaRPr lang="en-US" sz="8000" dirty="0"/>
          </a:p>
        </p:txBody>
      </p:sp>
      <p:sp>
        <p:nvSpPr>
          <p:cNvPr id="4" name="meaning"/>
          <p:cNvSpPr txBox="1"/>
          <p:nvPr/>
        </p:nvSpPr>
        <p:spPr>
          <a:xfrm>
            <a:off x="5486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तत्पर</a:t>
            </a:r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  ·  “ever-ready”</a:t>
            </a:r>
            <a:endParaRPr lang="en-US" sz="22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29260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Readiness Assurance Platform for Air Fleets</a:t>
            </a:r>
            <a:endParaRPr lang="en-US" sz="2800" dirty="0"/>
          </a:p>
        </p:txBody>
      </p:sp>
      <p:sp>
        <p:nvSpPr>
          <p:cNvPr id="6" name="tagline"/>
          <p:cNvSpPr txBox="1"/>
          <p:nvPr/>
        </p:nvSpPr>
        <p:spPr>
          <a:xfrm>
            <a:off x="548640" y="3977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bg2"/>
                </a:solidFill>
              </a:rPr>
              <a:t>Others predict failures. TATPAR assures readiness.</a:t>
            </a:r>
            <a:endParaRPr lang="en-US" sz="2000" dirty="0"/>
          </a:p>
        </p:txBody>
      </p:sp>
      <p:sp>
        <p:nvSpPr>
          <p:cNvPr id="7" name="jet-circle"/>
          <p:cNvSpPr/>
          <p:nvPr/>
        </p:nvSpPr>
        <p:spPr>
          <a:xfrm>
            <a:off x="548640" y="48920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je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5133442"/>
            <a:ext cx="523037" cy="523037"/>
          </a:xfrm>
          <a:prstGeom prst="rect">
            <a:avLst/>
          </a:prstGeom>
        </p:spPr>
      </p:pic>
      <p:sp>
        <p:nvSpPr>
          <p:cNvPr id="9" name="pillars"/>
          <p:cNvSpPr txBox="1"/>
          <p:nvPr/>
        </p:nvSpPr>
        <p:spPr>
          <a:xfrm>
            <a:off x="1783080" y="5074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AI prognostics  ·  sustainment digital twin  ·  fleet optimisation  ·  offline &amp; sovereign</a:t>
            </a:r>
            <a:endParaRPr lang="en-US" sz="1400" dirty="0"/>
          </a:p>
        </p:txBody>
      </p:sp>
      <p:sp>
        <p:nvSpPr>
          <p:cNvPr id="10" name="info-card"/>
          <p:cNvSpPr/>
          <p:nvPr/>
        </p:nvSpPr>
        <p:spPr>
          <a:xfrm>
            <a:off x="7498080" y="502920"/>
            <a:ext cx="4206240" cy="56692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nfo-0"/>
          <p:cNvSpPr txBox="1"/>
          <p:nvPr/>
        </p:nvSpPr>
        <p:spPr>
          <a:xfrm>
            <a:off x="7772400" y="7772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PROBLEM STATEMENT ID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26249</a:t>
            </a:r>
            <a:endParaRPr lang="en-US" sz="1000" dirty="0"/>
          </a:p>
        </p:txBody>
      </p:sp>
      <p:sp>
        <p:nvSpPr>
          <p:cNvPr id="12" name="info-1"/>
          <p:cNvSpPr txBox="1"/>
          <p:nvPr/>
        </p:nvSpPr>
        <p:spPr>
          <a:xfrm>
            <a:off x="7772400" y="143560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PROBLEM STATEMENT TITLE</a:t>
            </a:r>
            <a:endParaRPr lang="en-US" sz="10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Air Power – Predictive Maintenance &amp; Fleet Availability</a:t>
            </a:r>
            <a:endParaRPr lang="en-US" sz="1000" dirty="0"/>
          </a:p>
        </p:txBody>
      </p:sp>
      <p:sp>
        <p:nvSpPr>
          <p:cNvPr id="13" name="info-2"/>
          <p:cNvSpPr txBox="1"/>
          <p:nvPr/>
        </p:nvSpPr>
        <p:spPr>
          <a:xfrm>
            <a:off x="7772400" y="23957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ORGANISATION</a:t>
            </a:r>
            <a:endParaRPr lang="en-US" sz="1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Ministry of Defence · Defence Services Staff College</a:t>
            </a:r>
            <a:endParaRPr lang="en-US" sz="1000" dirty="0"/>
          </a:p>
        </p:txBody>
      </p:sp>
      <p:sp>
        <p:nvSpPr>
          <p:cNvPr id="14" name="info-3"/>
          <p:cNvSpPr txBox="1"/>
          <p:nvPr/>
        </p:nvSpPr>
        <p:spPr>
          <a:xfrm>
            <a:off x="7772400" y="33558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THEME</a:t>
            </a:r>
            <a:endParaRPr lang="en-US" sz="1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Transportation &amp; Logistics</a:t>
            </a:r>
            <a:endParaRPr lang="en-US" sz="1000" dirty="0"/>
          </a:p>
        </p:txBody>
      </p:sp>
      <p:sp>
        <p:nvSpPr>
          <p:cNvPr id="15" name="info-4"/>
          <p:cNvSpPr txBox="1"/>
          <p:nvPr/>
        </p:nvSpPr>
        <p:spPr>
          <a:xfrm>
            <a:off x="7772400" y="401421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PS CATEGORY</a:t>
            </a:r>
            <a:endParaRPr lang="en-US" sz="1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Software</a:t>
            </a:r>
            <a:endParaRPr lang="en-US" sz="1000" dirty="0"/>
          </a:p>
        </p:txBody>
      </p:sp>
      <p:sp>
        <p:nvSpPr>
          <p:cNvPr id="16" name="info-5"/>
          <p:cNvSpPr txBox="1"/>
          <p:nvPr/>
        </p:nvSpPr>
        <p:spPr>
          <a:xfrm>
            <a:off x="7772400" y="46725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TEAM ID</a:t>
            </a:r>
            <a:endParaRPr lang="en-US" sz="1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To be filled</a:t>
            </a:r>
            <a:endParaRPr lang="en-US" sz="1000" dirty="0"/>
          </a:p>
        </p:txBody>
      </p:sp>
      <p:sp>
        <p:nvSpPr>
          <p:cNvPr id="17" name="info-6"/>
          <p:cNvSpPr txBox="1"/>
          <p:nvPr/>
        </p:nvSpPr>
        <p:spPr>
          <a:xfrm>
            <a:off x="7772400" y="533095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TEAM NAME</a:t>
            </a:r>
            <a:endParaRPr lang="en-US" sz="1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To be filled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Proposed Solution</a:t>
            </a:r>
            <a:endParaRPr lang="en-US" sz="3600" dirty="0"/>
          </a:p>
        </p:txBody>
      </p:sp>
      <p:sp>
        <p:nvSpPr>
          <p:cNvPr id="3" name="lede"/>
          <p:cNvSpPr txBox="1"/>
          <p:nvPr/>
        </p:nvSpPr>
        <p:spPr>
          <a:xfrm>
            <a:off x="457200" y="102412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TATPAR joins health monitoring, technical records, spares and repair-agency data, then plans flying, maintenance and spares so that the required number of aircraft is mission-capable on the day of need — with stated confidence.</a:t>
            </a:r>
            <a:endParaRPr lang="en-US" sz="1500" dirty="0"/>
          </a:p>
        </p:txBody>
      </p:sp>
      <p:sp>
        <p:nvSpPr>
          <p:cNvPr id="4" name="q-card"/>
          <p:cNvSpPr/>
          <p:nvPr/>
        </p:nvSpPr>
        <p:spPr>
          <a:xfrm>
            <a:off x="457200" y="1783080"/>
            <a:ext cx="6949440" cy="1225296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q-circle"/>
          <p:cNvSpPr/>
          <p:nvPr/>
        </p:nvSpPr>
        <p:spPr>
          <a:xfrm>
            <a:off x="685800" y="1984248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2181758"/>
            <a:ext cx="427939" cy="427939"/>
          </a:xfrm>
          <a:prstGeom prst="rect">
            <a:avLst/>
          </a:prstGeom>
        </p:spPr>
      </p:pic>
      <p:sp>
        <p:nvSpPr>
          <p:cNvPr id="7" name="q-text"/>
          <p:cNvSpPr txBox="1"/>
          <p:nvPr/>
        </p:nvSpPr>
        <p:spPr>
          <a:xfrm>
            <a:off x="1737360" y="1828800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“How many aircraft on day D — and how sure?”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Readiness Forecast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Fleet Twin of aircraft, spares, BRD/HAL repair pipeline, bays and manpower runs 200 Monte-Carlo futures → P10–P90 aircraft per day and P(meet task).</a:t>
            </a:r>
            <a:endParaRPr lang="en-US" sz="1500" dirty="0"/>
          </a:p>
        </p:txBody>
      </p:sp>
      <p:sp>
        <p:nvSpPr>
          <p:cNvPr id="8" name="q-card"/>
          <p:cNvSpPr/>
          <p:nvPr/>
        </p:nvSpPr>
        <p:spPr>
          <a:xfrm>
            <a:off x="457200" y="3099816"/>
            <a:ext cx="6949440" cy="1225296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q-circle"/>
          <p:cNvSpPr/>
          <p:nvPr/>
        </p:nvSpPr>
        <p:spPr>
          <a:xfrm>
            <a:off x="685800" y="3300984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q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" y="3498494"/>
            <a:ext cx="427939" cy="427939"/>
          </a:xfrm>
          <a:prstGeom prst="rect">
            <a:avLst/>
          </a:prstGeom>
        </p:spPr>
      </p:pic>
      <p:sp>
        <p:nvSpPr>
          <p:cNvPr id="11" name="q-text"/>
          <p:cNvSpPr txBox="1"/>
          <p:nvPr/>
        </p:nvSpPr>
        <p:spPr>
          <a:xfrm>
            <a:off x="1737360" y="3145536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“What must I do today to have N ready?”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Readiness-Backward Planner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Optimises flying hours per tail, check timing, spares transfers, depot priority and cannibalisation; shows each action’s readiness gain; a human approves.</a:t>
            </a:r>
            <a:endParaRPr lang="en-US" sz="1500" dirty="0"/>
          </a:p>
        </p:txBody>
      </p:sp>
      <p:sp>
        <p:nvSpPr>
          <p:cNvPr id="12" name="q-card"/>
          <p:cNvSpPr/>
          <p:nvPr/>
        </p:nvSpPr>
        <p:spPr>
          <a:xfrm>
            <a:off x="457200" y="4416552"/>
            <a:ext cx="6949440" cy="1225296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q-circle"/>
          <p:cNvSpPr/>
          <p:nvPr/>
        </p:nvSpPr>
        <p:spPr>
          <a:xfrm>
            <a:off x="685800" y="46177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q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4815230"/>
            <a:ext cx="427939" cy="427939"/>
          </a:xfrm>
          <a:prstGeom prst="rect">
            <a:avLst/>
          </a:prstGeom>
        </p:spPr>
      </p:pic>
      <p:sp>
        <p:nvSpPr>
          <p:cNvPr id="15" name="q-text"/>
          <p:cNvSpPr txBox="1"/>
          <p:nvPr/>
        </p:nvSpPr>
        <p:spPr>
          <a:xfrm>
            <a:off x="1737360" y="4462272"/>
            <a:ext cx="5486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“Where is readiness lost — and why?”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Readiness-Loss Waterfall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Aircraft-days lost to spares, scheduled and unscheduled work, depot and manpower, with the days each lever could recover.</a:t>
            </a:r>
            <a:endParaRPr lang="en-US" sz="1500" dirty="0"/>
          </a:p>
        </p:txBody>
      </p:sp>
      <p:sp>
        <p:nvSpPr>
          <p:cNvPr id="16" name="unique-card"/>
          <p:cNvSpPr/>
          <p:nvPr/>
        </p:nvSpPr>
        <p:spPr>
          <a:xfrm>
            <a:off x="7680960" y="1783080"/>
            <a:ext cx="4050792" cy="3858768"/>
          </a:xfrm>
          <a:prstGeom prst="roundRect">
            <a:avLst>
              <a:gd name="adj" fmla="val 284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unique-head"/>
          <p:cNvSpPr txBox="1"/>
          <p:nvPr/>
        </p:nvSpPr>
        <p:spPr>
          <a:xfrm>
            <a:off x="7955280" y="1892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is unique</a:t>
            </a:r>
            <a:endParaRPr lang="en-US" sz="2000" dirty="0"/>
          </a:p>
        </p:txBody>
      </p:sp>
      <p:sp>
        <p:nvSpPr>
          <p:cNvPr id="18" name="unique-list"/>
          <p:cNvSpPr txBox="1"/>
          <p:nvPr/>
        </p:nvSpPr>
        <p:spPr>
          <a:xfrm>
            <a:off x="7955280" y="237744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Twin of the sustainment system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 — not a 3D model of one aircraft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Plans backwards from the requirement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 — each action scored by P(meet), checked against hidden truth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Live data fabric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 — HUMS, tech log, IMMOLS, BRD/HAL imports change the plan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Calibrated RUL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 — conformal 90 % intervals + engine-module attribution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Multi-echelon spares (VARI-METRIC)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; NFF, rogue-unit &amp; cannibalisation analytics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bg1"/>
                </a:solidFill>
              </a:rPr>
              <a:t>Offline, federated, signed ledger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; Indian base dust from real CAMS data</a:t>
            </a:r>
            <a:endParaRPr lang="en-US" sz="1300" dirty="0"/>
          </a:p>
        </p:txBody>
      </p:sp>
      <p:sp>
        <p:nvSpPr>
          <p:cNvPr id="19" name="ps-head"/>
          <p:cNvSpPr txBox="1"/>
          <p:nvPr/>
        </p:nvSpPr>
        <p:spPr>
          <a:xfrm>
            <a:off x="457200" y="576072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PS ASKS → TATPAR</a:t>
            </a:r>
            <a:endParaRPr lang="en-US" sz="1100" dirty="0"/>
          </a:p>
        </p:txBody>
      </p:sp>
      <p:sp>
        <p:nvSpPr>
          <p:cNvPr id="20" name="ps-0"/>
          <p:cNvSpPr/>
          <p:nvPr/>
        </p:nvSpPr>
        <p:spPr>
          <a:xfrm>
            <a:off x="1920240" y="5760720"/>
            <a:ext cx="23774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s-text-0"/>
          <p:cNvSpPr txBox="1"/>
          <p:nvPr/>
        </p:nvSpPr>
        <p:spPr>
          <a:xfrm>
            <a:off x="2011680" y="576986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AI/ML predictive maintenance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calibrated engine RUL, LRU survival, NFF &amp; rogue units</a:t>
            </a:r>
            <a:endParaRPr lang="en-US" sz="1100" dirty="0"/>
          </a:p>
        </p:txBody>
      </p:sp>
      <p:sp>
        <p:nvSpPr>
          <p:cNvPr id="22" name="ps-1"/>
          <p:cNvSpPr/>
          <p:nvPr/>
        </p:nvSpPr>
        <p:spPr>
          <a:xfrm>
            <a:off x="4389120" y="5760720"/>
            <a:ext cx="23774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ps-text-1"/>
          <p:cNvSpPr txBox="1"/>
          <p:nvPr/>
        </p:nvSpPr>
        <p:spPr>
          <a:xfrm>
            <a:off x="4480560" y="576986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IoT / aircraft health monitoring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HUMS downloads imported live via an edge gateway</a:t>
            </a:r>
            <a:endParaRPr lang="en-US" sz="1100" dirty="0"/>
          </a:p>
        </p:txBody>
      </p:sp>
      <p:sp>
        <p:nvSpPr>
          <p:cNvPr id="24" name="ps-2"/>
          <p:cNvSpPr/>
          <p:nvPr/>
        </p:nvSpPr>
        <p:spPr>
          <a:xfrm>
            <a:off x="6858000" y="5760720"/>
            <a:ext cx="23774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s-text-2"/>
          <p:cNvSpPr txBox="1"/>
          <p:nvPr/>
        </p:nvSpPr>
        <p:spPr>
          <a:xfrm>
            <a:off x="6949440" y="576986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Digital twin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Fleet Twin of aircraft, spares, BRD/HAL, bays, crews</a:t>
            </a:r>
            <a:endParaRPr lang="en-US" sz="1100" dirty="0"/>
          </a:p>
        </p:txBody>
      </p:sp>
      <p:sp>
        <p:nvSpPr>
          <p:cNvPr id="26" name="ps-3"/>
          <p:cNvSpPr/>
          <p:nvPr/>
        </p:nvSpPr>
        <p:spPr>
          <a:xfrm>
            <a:off x="9326880" y="5760720"/>
            <a:ext cx="237744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ps-text-3"/>
          <p:cNvSpPr txBox="1"/>
          <p:nvPr/>
        </p:nvSpPr>
        <p:spPr>
          <a:xfrm>
            <a:off x="9418320" y="576986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Integrated analytics platform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4 data sources joined; 8-board ops room; signed ledger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Technical Approach</a:t>
            </a:r>
            <a:endParaRPr lang="en-US" sz="3600" dirty="0"/>
          </a:p>
        </p:txBody>
      </p:sp>
      <p:pic>
        <p:nvPicPr>
          <p:cNvPr id="3" name="architecture" descr="/home/user/air-power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543800" cy="4480560"/>
          </a:xfrm>
          <a:prstGeom prst="rect">
            <a:avLst/>
          </a:prstGeom>
        </p:spPr>
      </p:pic>
      <p:sp>
        <p:nvSpPr>
          <p:cNvPr id="4" name="stack-card"/>
          <p:cNvSpPr/>
          <p:nvPr/>
        </p:nvSpPr>
        <p:spPr>
          <a:xfrm>
            <a:off x="8229600" y="1097280"/>
            <a:ext cx="3502152" cy="4480560"/>
          </a:xfrm>
          <a:prstGeom prst="roundRect">
            <a:avLst>
              <a:gd name="adj" fmla="val 3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ck-head"/>
          <p:cNvSpPr txBox="1"/>
          <p:nvPr/>
        </p:nvSpPr>
        <p:spPr>
          <a:xfrm>
            <a:off x="841248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6" name="stack-list"/>
          <p:cNvSpPr txBox="1"/>
          <p:nvPr/>
        </p:nvSpPr>
        <p:spPr>
          <a:xfrm>
            <a:off x="8412480" y="164592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Prognostics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LightGBM quantile + conformal (CQR), SHAP, Weibull AFT (lifelines)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Twin &amp; optimisation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NumPy Monte-Carlo Fleet Twin, OR-Tools CP-SAT, VARI-METRIC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Data in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CSV contracts + REST for HUMS, tech log, IMMOLS, BRD/HAL; HUMS edge gateway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Platform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FastAPI · React + TypeScript · ECharts · Parquet (Postgres/TimescaleDB in production)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Data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NASA C-MAPSS, MaintNet logbooks, CAMS dust, notional synthetic fleet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Deploy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tx2"/>
                </a:solidFill>
              </a:rPr>
              <a:t>Docker, fully offline on CPU laptop / edge server</a:t>
            </a:r>
            <a:endParaRPr lang="en-US" sz="1250" dirty="0"/>
          </a:p>
        </p:txBody>
      </p:sp>
      <p:sp>
        <p:nvSpPr>
          <p:cNvPr id="7" name="step-Integrate"/>
          <p:cNvSpPr/>
          <p:nvPr/>
        </p:nvSpPr>
        <p:spPr>
          <a:xfrm>
            <a:off x="457200" y="5760720"/>
            <a:ext cx="1828800" cy="502920"/>
          </a:xfrm>
          <a:prstGeom prst="homePlat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tep-label-Integrate"/>
          <p:cNvSpPr txBox="1"/>
          <p:nvPr/>
        </p:nvSpPr>
        <p:spPr>
          <a:xfrm>
            <a:off x="685800" y="5760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Integrate</a:t>
            </a:r>
            <a:endParaRPr lang="en-US" sz="1400" dirty="0"/>
          </a:p>
        </p:txBody>
      </p:sp>
      <p:sp>
        <p:nvSpPr>
          <p:cNvPr id="9" name="step-Predict"/>
          <p:cNvSpPr/>
          <p:nvPr/>
        </p:nvSpPr>
        <p:spPr>
          <a:xfrm>
            <a:off x="2346350" y="5760720"/>
            <a:ext cx="1828800" cy="5029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tep-label-Predict"/>
          <p:cNvSpPr txBox="1"/>
          <p:nvPr/>
        </p:nvSpPr>
        <p:spPr>
          <a:xfrm>
            <a:off x="2574950" y="5760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Predict</a:t>
            </a:r>
            <a:endParaRPr lang="en-US" sz="1400" dirty="0"/>
          </a:p>
        </p:txBody>
      </p:sp>
      <p:sp>
        <p:nvSpPr>
          <p:cNvPr id="11" name="step-Simulate"/>
          <p:cNvSpPr/>
          <p:nvPr/>
        </p:nvSpPr>
        <p:spPr>
          <a:xfrm>
            <a:off x="4235501" y="5760720"/>
            <a:ext cx="1828800" cy="5029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step-label-Simulate"/>
          <p:cNvSpPr txBox="1"/>
          <p:nvPr/>
        </p:nvSpPr>
        <p:spPr>
          <a:xfrm>
            <a:off x="4464101" y="5760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Simulate</a:t>
            </a:r>
            <a:endParaRPr lang="en-US" sz="1400" dirty="0"/>
          </a:p>
        </p:txBody>
      </p:sp>
      <p:sp>
        <p:nvSpPr>
          <p:cNvPr id="13" name="step-Optimise"/>
          <p:cNvSpPr/>
          <p:nvPr/>
        </p:nvSpPr>
        <p:spPr>
          <a:xfrm>
            <a:off x="6124651" y="5760720"/>
            <a:ext cx="1828800" cy="5029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ep-label-Optimise"/>
          <p:cNvSpPr txBox="1"/>
          <p:nvPr/>
        </p:nvSpPr>
        <p:spPr>
          <a:xfrm>
            <a:off x="6353251" y="5760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Optimise</a:t>
            </a:r>
            <a:endParaRPr lang="en-US" sz="1400" dirty="0"/>
          </a:p>
        </p:txBody>
      </p:sp>
      <p:sp>
        <p:nvSpPr>
          <p:cNvPr id="15" name="step-Approve"/>
          <p:cNvSpPr/>
          <p:nvPr/>
        </p:nvSpPr>
        <p:spPr>
          <a:xfrm>
            <a:off x="8013802" y="5760720"/>
            <a:ext cx="1828800" cy="50292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-label-Approve"/>
          <p:cNvSpPr txBox="1"/>
          <p:nvPr/>
        </p:nvSpPr>
        <p:spPr>
          <a:xfrm>
            <a:off x="8242402" y="5760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</p:txBody>
      </p:sp>
      <p:sp>
        <p:nvSpPr>
          <p:cNvPr id="17" name="step-Learn"/>
          <p:cNvSpPr/>
          <p:nvPr/>
        </p:nvSpPr>
        <p:spPr>
          <a:xfrm>
            <a:off x="9902952" y="5760720"/>
            <a:ext cx="1828800" cy="5029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step-label-Learn"/>
          <p:cNvSpPr txBox="1"/>
          <p:nvPr/>
        </p:nvSpPr>
        <p:spPr>
          <a:xfrm>
            <a:off x="10131552" y="5760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Learn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 &amp; Viability</a:t>
            </a:r>
            <a:endParaRPr lang="en-US" sz="3600" dirty="0"/>
          </a:p>
        </p:txBody>
      </p:sp>
      <p:sp>
        <p:nvSpPr>
          <p:cNvPr id="3" name="stat-0"/>
          <p:cNvSpPr/>
          <p:nvPr/>
        </p:nvSpPr>
        <p:spPr>
          <a:xfrm>
            <a:off x="457200" y="1188720"/>
            <a:ext cx="356616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-big-0"/>
          <p:cNvSpPr txBox="1"/>
          <p:nvPr/>
        </p:nvSpPr>
        <p:spPr>
          <a:xfrm>
            <a:off x="685800" y="1298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+20 pts</a:t>
            </a:r>
            <a:endParaRPr lang="en-US" sz="3600" dirty="0"/>
          </a:p>
        </p:txBody>
      </p:sp>
      <p:sp>
        <p:nvSpPr>
          <p:cNvPr id="5" name="stat-label-0"/>
          <p:cNvSpPr txBox="1"/>
          <p:nvPr/>
        </p:nvSpPr>
        <p:spPr>
          <a:xfrm>
            <a:off x="685800" y="1920240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mission-capable in the prototype’s Fleet Twin: 57.7 → 77.9 %, same fleet &amp; spares budget; +16 to +26 under every changed assumption (notional)</a:t>
            </a:r>
            <a:endParaRPr lang="en-US" sz="1250" dirty="0"/>
          </a:p>
        </p:txBody>
      </p:sp>
      <p:sp>
        <p:nvSpPr>
          <p:cNvPr id="6" name="stat-1"/>
          <p:cNvSpPr/>
          <p:nvPr/>
        </p:nvSpPr>
        <p:spPr>
          <a:xfrm>
            <a:off x="457200" y="2871216"/>
            <a:ext cx="356616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-big-1"/>
          <p:cNvSpPr txBox="1"/>
          <p:nvPr/>
        </p:nvSpPr>
        <p:spPr>
          <a:xfrm>
            <a:off x="685800" y="298094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90 %</a:t>
            </a:r>
            <a:endParaRPr lang="en-US" sz="3600" dirty="0"/>
          </a:p>
        </p:txBody>
      </p:sp>
      <p:sp>
        <p:nvSpPr>
          <p:cNvPr id="8" name="stat-label-1"/>
          <p:cNvSpPr txBox="1"/>
          <p:nvPr/>
        </p:nvSpPr>
        <p:spPr>
          <a:xfrm>
            <a:off x="685800" y="3602736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calibrated engine-RUL interval coverage on NASA C-MAPSS test sets (82.7 % before conformal calibration)</a:t>
            </a:r>
            <a:endParaRPr lang="en-US" sz="1250" dirty="0"/>
          </a:p>
        </p:txBody>
      </p:sp>
      <p:sp>
        <p:nvSpPr>
          <p:cNvPr id="9" name="stat-2"/>
          <p:cNvSpPr/>
          <p:nvPr/>
        </p:nvSpPr>
        <p:spPr>
          <a:xfrm>
            <a:off x="457200" y="4553712"/>
            <a:ext cx="3566160" cy="1572768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-big-2"/>
          <p:cNvSpPr txBox="1"/>
          <p:nvPr/>
        </p:nvSpPr>
        <p:spPr>
          <a:xfrm>
            <a:off x="68580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stat-label-2"/>
          <p:cNvSpPr txBox="1"/>
          <p:nvPr/>
        </p:nvSpPr>
        <p:spPr>
          <a:xfrm>
            <a:off x="685800" y="5285232"/>
            <a:ext cx="3154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cloud dependencies — runs air-gapped on a CPU laptop or edge server; public + synthetic data only</a:t>
            </a:r>
            <a:endParaRPr lang="en-US" sz="1250" dirty="0"/>
          </a:p>
        </p:txBody>
      </p:sp>
      <p:graphicFrame>
        <p:nvGraphicFramePr>
          <p:cNvPr id="5" name="ris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188720"/>
          <a:ext cx="743407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5193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/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built into TATPAR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access to real IAF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data + synthetic fleet with hidden ground truth; data contracts let a unit import its own HUMS, e-MMS, IMMOLS, BRD exports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in AI recommendations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intervals; planner checked against hidden truth; human approval; signed ledger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Classified, air-gapped networks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offline (Docker); federated learning shares only weights + aggregate statistics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Messy legacy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Row-by-row validation with reasons; data-quality scores; every import hashed and logged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 run-time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CP-SAT plans a squadron in 0.3–3.5 s, same plan on every machine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3" name="phase-0"/>
          <p:cNvSpPr/>
          <p:nvPr/>
        </p:nvSpPr>
        <p:spPr>
          <a:xfrm>
            <a:off x="4297680" y="4114800"/>
            <a:ext cx="239572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hase-text-0"/>
          <p:cNvSpPr txBox="1"/>
          <p:nvPr/>
        </p:nvSpPr>
        <p:spPr>
          <a:xfrm>
            <a:off x="4407408" y="4169664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0–3 months · Pilot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One squadron's historical HUMS, e-MMS and IMMOLS exports mapped onto the contracts; models retrained; recommendations in shadow mode</a:t>
            </a:r>
            <a:endParaRPr lang="en-US" sz="1200" dirty="0"/>
          </a:p>
        </p:txBody>
      </p:sp>
      <p:sp>
        <p:nvSpPr>
          <p:cNvPr id="15" name="phase-1"/>
          <p:cNvSpPr/>
          <p:nvPr/>
        </p:nvSpPr>
        <p:spPr>
          <a:xfrm>
            <a:off x="6825996" y="4114800"/>
            <a:ext cx="239572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hase-text-1"/>
          <p:cNvSpPr txBox="1"/>
          <p:nvPr/>
        </p:nvSpPr>
        <p:spPr>
          <a:xfrm>
            <a:off x="6935724" y="4169664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3–9 months · One station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Daily signal, planner and orders in use; BRD/HAL status feed; MC rate measured against the station's own baseline</a:t>
            </a:r>
            <a:endParaRPr lang="en-US" sz="1200" dirty="0"/>
          </a:p>
        </p:txBody>
      </p:sp>
      <p:sp>
        <p:nvSpPr>
          <p:cNvPr id="17" name="phase-2"/>
          <p:cNvSpPr/>
          <p:nvPr/>
        </p:nvSpPr>
        <p:spPr>
          <a:xfrm>
            <a:off x="9354312" y="4114800"/>
            <a:ext cx="239572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hase-text-2"/>
          <p:cNvSpPr txBox="1"/>
          <p:nvPr/>
        </p:nvSpPr>
        <p:spPr>
          <a:xfrm>
            <a:off x="9464040" y="4169664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9–18 months · Command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All bases; federated learning over AFNET; PKI-signed ledger; integration with IMMOLS / e-MMS</a:t>
            </a:r>
            <a:endParaRPr lang="en-US" sz="1200" dirty="0"/>
          </a:p>
        </p:txBody>
      </p:sp>
      <p:sp>
        <p:nvSpPr>
          <p:cNvPr id="19" name="path"/>
          <p:cNvSpPr txBox="1"/>
          <p:nvPr/>
        </p:nvSpPr>
        <p:spPr>
          <a:xfrm>
            <a:off x="4297680" y="5413248"/>
            <a:ext cx="7434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Cost (indicative):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CPU edge server per station (~₹3–5 lakh); open-source stack, no licence fees. </a:t>
            </a:r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Built and tested: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8-board ops room, 50 backend tests + 24 browser checks in CI · github.com/DeepakSinghhh/air-power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Impact &amp; Benefits</a:t>
            </a:r>
            <a:endParaRPr lang="en-US" sz="3600" dirty="0"/>
          </a:p>
        </p:txBody>
      </p:sp>
      <p:sp>
        <p:nvSpPr>
          <p:cNvPr id="3" name="impact-0"/>
          <p:cNvSpPr/>
          <p:nvPr/>
        </p:nvSpPr>
        <p:spPr>
          <a:xfrm>
            <a:off x="457200" y="1143000"/>
            <a:ext cx="36301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mpact-big-0"/>
          <p:cNvSpPr txBox="1"/>
          <p:nvPr/>
        </p:nvSpPr>
        <p:spPr>
          <a:xfrm>
            <a:off x="685800" y="12161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~40 %</a:t>
            </a:r>
            <a:endParaRPr lang="en-US" sz="4000" dirty="0"/>
          </a:p>
        </p:txBody>
      </p:sp>
      <p:sp>
        <p:nvSpPr>
          <p:cNvPr id="5" name="impact-label-0"/>
          <p:cNvSpPr txBox="1"/>
          <p:nvPr/>
        </p:nvSpPr>
        <p:spPr>
          <a:xfrm>
            <a:off x="685800" y="19019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fighters reported unserviceable at any time (post-Op Sindoor commentary, Swarajya 2025)</a:t>
            </a:r>
            <a:endParaRPr lang="en-US" sz="1300" dirty="0"/>
          </a:p>
        </p:txBody>
      </p:sp>
      <p:sp>
        <p:nvSpPr>
          <p:cNvPr id="6" name="impact-1"/>
          <p:cNvSpPr/>
          <p:nvPr/>
        </p:nvSpPr>
        <p:spPr>
          <a:xfrm>
            <a:off x="4279392" y="1143000"/>
            <a:ext cx="36301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mpact-big-1"/>
          <p:cNvSpPr txBox="1"/>
          <p:nvPr/>
        </p:nvSpPr>
        <p:spPr>
          <a:xfrm>
            <a:off x="4507992" y="12161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20–50 %</a:t>
            </a:r>
            <a:endParaRPr lang="en-US" sz="4000" dirty="0"/>
          </a:p>
        </p:txBody>
      </p:sp>
      <p:sp>
        <p:nvSpPr>
          <p:cNvPr id="8" name="impact-label-1"/>
          <p:cNvSpPr txBox="1"/>
          <p:nvPr/>
        </p:nvSpPr>
        <p:spPr>
          <a:xfrm>
            <a:off x="4507992" y="19019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avionics removals end as No-Fault-Found — wasted spares and repair slots (Raza 2018)</a:t>
            </a:r>
            <a:endParaRPr lang="en-US" sz="1300" dirty="0"/>
          </a:p>
        </p:txBody>
      </p:sp>
      <p:sp>
        <p:nvSpPr>
          <p:cNvPr id="9" name="impact-2"/>
          <p:cNvSpPr/>
          <p:nvPr/>
        </p:nvSpPr>
        <p:spPr>
          <a:xfrm>
            <a:off x="8101584" y="1143000"/>
            <a:ext cx="3630168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mpact-big-2"/>
          <p:cNvSpPr txBox="1"/>
          <p:nvPr/>
        </p:nvSpPr>
        <p:spPr>
          <a:xfrm>
            <a:off x="8330184" y="12161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≈ 13</a:t>
            </a:r>
            <a:endParaRPr lang="en-US" sz="4000" dirty="0"/>
          </a:p>
        </p:txBody>
      </p:sp>
      <p:sp>
        <p:nvSpPr>
          <p:cNvPr id="11" name="impact-label-2"/>
          <p:cNvSpPr txBox="1"/>
          <p:nvPr/>
        </p:nvSpPr>
        <p:spPr>
          <a:xfrm>
            <a:off x="8330184" y="19019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more aircraft mission-capable every day from a 64-aircraft fleet in the prototype twin — same spares budget (notional data)</a:t>
            </a:r>
            <a:endParaRPr lang="en-US" sz="1300" dirty="0"/>
          </a:p>
        </p:txBody>
      </p:sp>
      <p:sp>
        <p:nvSpPr>
          <p:cNvPr id="12" name="who-head"/>
          <p:cNvSpPr txBox="1"/>
          <p:nvPr/>
        </p:nvSpPr>
        <p:spPr>
          <a:xfrm>
            <a:off x="4572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 benefits</a:t>
            </a:r>
            <a:endParaRPr lang="en-US" sz="1800" dirty="0"/>
          </a:p>
        </p:txBody>
      </p:sp>
      <p:sp>
        <p:nvSpPr>
          <p:cNvPr id="13" name="who-circle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wh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3595421"/>
            <a:ext cx="261518" cy="261518"/>
          </a:xfrm>
          <a:prstGeom prst="rect">
            <a:avLst/>
          </a:prstGeom>
        </p:spPr>
      </p:pic>
      <p:sp>
        <p:nvSpPr>
          <p:cNvPr id="15" name="who-text"/>
          <p:cNvSpPr txBox="1"/>
          <p:nvPr/>
        </p:nvSpPr>
        <p:spPr>
          <a:xfrm>
            <a:off x="1097280" y="34290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Commander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 aircraft on day D, with a stated confidence</a:t>
            </a:r>
            <a:endParaRPr lang="en-US" sz="1300" dirty="0"/>
          </a:p>
        </p:txBody>
      </p:sp>
      <p:sp>
        <p:nvSpPr>
          <p:cNvPr id="16" name="who-circle"/>
          <p:cNvSpPr/>
          <p:nvPr/>
        </p:nvSpPr>
        <p:spPr>
          <a:xfrm>
            <a:off x="457200" y="417880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who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4299509"/>
            <a:ext cx="261518" cy="261518"/>
          </a:xfrm>
          <a:prstGeom prst="rect">
            <a:avLst/>
          </a:prstGeom>
        </p:spPr>
      </p:pic>
      <p:sp>
        <p:nvSpPr>
          <p:cNvPr id="18" name="who-text"/>
          <p:cNvSpPr txBox="1"/>
          <p:nvPr/>
        </p:nvSpPr>
        <p:spPr>
          <a:xfrm>
            <a:off x="1097280" y="413308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Squadron Engineering Officer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Which tails fly, which go in, what to bundle</a:t>
            </a:r>
            <a:endParaRPr lang="en-US" sz="1300" dirty="0"/>
          </a:p>
        </p:txBody>
      </p:sp>
      <p:sp>
        <p:nvSpPr>
          <p:cNvPr id="19" name="who-circle"/>
          <p:cNvSpPr/>
          <p:nvPr/>
        </p:nvSpPr>
        <p:spPr>
          <a:xfrm>
            <a:off x="457200" y="4882896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who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5003597"/>
            <a:ext cx="261518" cy="261518"/>
          </a:xfrm>
          <a:prstGeom prst="rect">
            <a:avLst/>
          </a:prstGeom>
        </p:spPr>
      </p:pic>
      <p:sp>
        <p:nvSpPr>
          <p:cNvPr id="21" name="who-text"/>
          <p:cNvSpPr txBox="1"/>
          <p:nvPr/>
        </p:nvSpPr>
        <p:spPr>
          <a:xfrm>
            <a:off x="1097280" y="483717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Logistics Officer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 to stock, move or expedite — and where</a:t>
            </a:r>
            <a:endParaRPr lang="en-US" sz="1300" dirty="0"/>
          </a:p>
        </p:txBody>
      </p:sp>
      <p:sp>
        <p:nvSpPr>
          <p:cNvPr id="22" name="who-circle"/>
          <p:cNvSpPr/>
          <p:nvPr/>
        </p:nvSpPr>
        <p:spPr>
          <a:xfrm>
            <a:off x="457200" y="5586984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3" name="who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5707685"/>
            <a:ext cx="261518" cy="261518"/>
          </a:xfrm>
          <a:prstGeom prst="rect">
            <a:avLst/>
          </a:prstGeom>
        </p:spPr>
      </p:pic>
      <p:sp>
        <p:nvSpPr>
          <p:cNvPr id="24" name="who-text"/>
          <p:cNvSpPr txBox="1"/>
          <p:nvPr/>
        </p:nvSpPr>
        <p:spPr>
          <a:xfrm>
            <a:off x="1097280" y="554126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BRD / Depot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Which repairs add the most readiness first</a:t>
            </a:r>
            <a:endParaRPr lang="en-US" sz="1300" dirty="0"/>
          </a:p>
        </p:txBody>
      </p:sp>
      <p:sp>
        <p:nvSpPr>
          <p:cNvPr id="25" name="benefit-card"/>
          <p:cNvSpPr/>
          <p:nvPr/>
        </p:nvSpPr>
        <p:spPr>
          <a:xfrm>
            <a:off x="5852160" y="2971800"/>
            <a:ext cx="5879592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en-circle"/>
          <p:cNvSpPr/>
          <p:nvPr/>
        </p:nvSpPr>
        <p:spPr>
          <a:xfrm>
            <a:off x="6080760" y="3154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ben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461" y="3275381"/>
            <a:ext cx="261518" cy="261518"/>
          </a:xfrm>
          <a:prstGeom prst="rect">
            <a:avLst/>
          </a:prstGeom>
        </p:spPr>
      </p:pic>
      <p:sp>
        <p:nvSpPr>
          <p:cNvPr id="28" name="ben-text"/>
          <p:cNvSpPr txBox="1"/>
          <p:nvPr/>
        </p:nvSpPr>
        <p:spPr>
          <a:xfrm>
            <a:off x="672084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Operational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More aircraft from the same fleet; surge plans with known odds</a:t>
            </a:r>
            <a:endParaRPr lang="en-US" sz="1300" dirty="0"/>
          </a:p>
        </p:txBody>
      </p:sp>
      <p:sp>
        <p:nvSpPr>
          <p:cNvPr id="29" name="ben-circle"/>
          <p:cNvSpPr/>
          <p:nvPr/>
        </p:nvSpPr>
        <p:spPr>
          <a:xfrm>
            <a:off x="6080760" y="39044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ben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1461" y="4025189"/>
            <a:ext cx="261518" cy="261518"/>
          </a:xfrm>
          <a:prstGeom prst="rect">
            <a:avLst/>
          </a:prstGeom>
        </p:spPr>
      </p:pic>
      <p:sp>
        <p:nvSpPr>
          <p:cNvPr id="31" name="ben-text"/>
          <p:cNvSpPr txBox="1"/>
          <p:nvPr/>
        </p:nvSpPr>
        <p:spPr>
          <a:xfrm>
            <a:off x="6720840" y="3858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Economic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≈13 aircraft of availability ≈ ₹14,600 cr of new airframes at the 2024 HAL price (illustrative); spares bought for availability per rupee</a:t>
            </a:r>
            <a:endParaRPr lang="en-US" sz="1300" dirty="0"/>
          </a:p>
        </p:txBody>
      </p:sp>
      <p:sp>
        <p:nvSpPr>
          <p:cNvPr id="32" name="ben-circle"/>
          <p:cNvSpPr/>
          <p:nvPr/>
        </p:nvSpPr>
        <p:spPr>
          <a:xfrm>
            <a:off x="6080760" y="46542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ben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1461" y="4774997"/>
            <a:ext cx="261518" cy="261518"/>
          </a:xfrm>
          <a:prstGeom prst="rect">
            <a:avLst/>
          </a:prstGeom>
        </p:spPr>
      </p:pic>
      <p:sp>
        <p:nvSpPr>
          <p:cNvPr id="34" name="ben-text"/>
          <p:cNvSpPr txBox="1"/>
          <p:nvPr/>
        </p:nvSpPr>
        <p:spPr>
          <a:xfrm>
            <a:off x="6720840" y="46085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Strategic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Sovereign, offline software; supply-risk visibility for indigenisation</a:t>
            </a:r>
            <a:endParaRPr lang="en-US" sz="1300" dirty="0"/>
          </a:p>
        </p:txBody>
      </p:sp>
      <p:sp>
        <p:nvSpPr>
          <p:cNvPr id="35" name="ben-circle"/>
          <p:cNvSpPr/>
          <p:nvPr/>
        </p:nvSpPr>
        <p:spPr>
          <a:xfrm>
            <a:off x="6080760" y="54041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ben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1461" y="5524805"/>
            <a:ext cx="261518" cy="261518"/>
          </a:xfrm>
          <a:prstGeom prst="rect">
            <a:avLst/>
          </a:prstGeom>
        </p:spPr>
      </p:pic>
      <p:sp>
        <p:nvSpPr>
          <p:cNvPr id="37" name="ben-text"/>
          <p:cNvSpPr txBox="1"/>
          <p:nvPr/>
        </p:nvSpPr>
        <p:spPr>
          <a:xfrm>
            <a:off x="6720840" y="53583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Safety &amp; people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Fewer cannibalisations; chronic defects caught early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Research &amp; References</a:t>
            </a:r>
            <a:endParaRPr lang="en-US" sz="3600" dirty="0"/>
          </a:p>
        </p:txBody>
      </p:sp>
      <p:sp>
        <p:nvSpPr>
          <p:cNvPr id="3" name="ref-card-0"/>
          <p:cNvSpPr/>
          <p:nvPr/>
        </p:nvSpPr>
        <p:spPr>
          <a:xfrm>
            <a:off x="457200" y="1188720"/>
            <a:ext cx="3630168" cy="3657600"/>
          </a:xfrm>
          <a:prstGeom prst="roundRect">
            <a:avLst>
              <a:gd name="adj" fmla="val 302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ef-head-0"/>
          <p:cNvSpPr txBox="1"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IAF context</a:t>
            </a:r>
            <a:endParaRPr lang="en-US" sz="1800" dirty="0"/>
          </a:p>
        </p:txBody>
      </p:sp>
      <p:sp>
        <p:nvSpPr>
          <p:cNvPr id="5" name="ref-list-0"/>
          <p:cNvSpPr txBox="1"/>
          <p:nvPr/>
        </p:nvSpPr>
        <p:spPr>
          <a:xfrm>
            <a:off x="685800" y="178308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Business Standard (2014) — Su‑30MKI serviceability 48–55 %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CAPS Issue Brief 08/25 — AI in IAF logistics, IMMOLS, e-MMS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The Week (Aug 2026) — ML for Sukhoi and Tejas fleets, edge AI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Defense Mirror — 11 BRD Ojhar Su‑30MKI overhaul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Swarajya (2025) — Op Sindoor: ~40 % unserviceable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MoD–HAL contract, 12 Su‑30MKI, ₹13,500 cr (Dec 2024)</a:t>
            </a:r>
            <a:endParaRPr lang="en-US" sz="1250" dirty="0"/>
          </a:p>
        </p:txBody>
      </p:sp>
      <p:sp>
        <p:nvSpPr>
          <p:cNvPr id="6" name="ref-card-1"/>
          <p:cNvSpPr/>
          <p:nvPr/>
        </p:nvSpPr>
        <p:spPr>
          <a:xfrm>
            <a:off x="4279392" y="1188720"/>
            <a:ext cx="3630168" cy="3657600"/>
          </a:xfrm>
          <a:prstGeom prst="roundRect">
            <a:avLst>
              <a:gd name="adj" fmla="val 302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ef-head-1"/>
          <p:cNvSpPr txBox="1"/>
          <p:nvPr/>
        </p:nvSpPr>
        <p:spPr>
          <a:xfrm>
            <a:off x="4507992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Operations research</a:t>
            </a:r>
            <a:endParaRPr lang="en-US" sz="1800" dirty="0"/>
          </a:p>
        </p:txBody>
      </p:sp>
      <p:sp>
        <p:nvSpPr>
          <p:cNvPr id="8" name="ref-list-1"/>
          <p:cNvSpPr txBox="1"/>
          <p:nvPr/>
        </p:nvSpPr>
        <p:spPr>
          <a:xfrm>
            <a:off x="4507992" y="178308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Kozanidis — Flight &amp; maintenance planning, Hellenic AF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Peschiera et al. — Long-term FMP, French AF (arXiv 2001.09856)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Mattila &amp; Virtanen (2014) — Fighter maintenance sim-optimisation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Sherbrooke — VARI-METRIC, Operations Research (1986)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GAO-02-86 — Military aircraft cannibalisations</a:t>
            </a:r>
            <a:endParaRPr lang="en-US" sz="1250" dirty="0"/>
          </a:p>
        </p:txBody>
      </p:sp>
      <p:sp>
        <p:nvSpPr>
          <p:cNvPr id="9" name="ref-card-2"/>
          <p:cNvSpPr/>
          <p:nvPr/>
        </p:nvSpPr>
        <p:spPr>
          <a:xfrm>
            <a:off x="8101584" y="1188720"/>
            <a:ext cx="3630168" cy="3657600"/>
          </a:xfrm>
          <a:prstGeom prst="roundRect">
            <a:avLst>
              <a:gd name="adj" fmla="val 302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ref-head-2"/>
          <p:cNvSpPr txBox="1"/>
          <p:nvPr/>
        </p:nvSpPr>
        <p:spPr>
          <a:xfrm>
            <a:off x="8330184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Prognostics &amp; AI</a:t>
            </a:r>
            <a:endParaRPr lang="en-US" sz="1800" dirty="0"/>
          </a:p>
        </p:txBody>
      </p:sp>
      <p:sp>
        <p:nvSpPr>
          <p:cNvPr id="11" name="ref-list-2"/>
          <p:cNvSpPr txBox="1"/>
          <p:nvPr/>
        </p:nvSpPr>
        <p:spPr>
          <a:xfrm>
            <a:off x="8330184" y="178308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Saxena et al. (2008) — NASA C-MAPSS turbofan dataset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LSTM quantile + conformal RUL — Sensors 26(7) 2249 (2026)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Federated RUL prognostics — arXiv 2506.00499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MaintNet aviation logbooks — COLING 2020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DST-Group-TR-3367 — dust-driven engine degradation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Raza, Aerospace 5(2):38 (2018) — avionics NFF 20–50 %</a:t>
            </a:r>
            <a:endParaRPr lang="en-US" sz="1250" dirty="0"/>
          </a:p>
        </p:txBody>
      </p:sp>
      <p:sp>
        <p:nvSpPr>
          <p:cNvPr id="12" name="gap-note"/>
          <p:cNvSpPr txBox="1"/>
          <p:nvPr/>
        </p:nvSpPr>
        <p:spPr>
          <a:xfrm>
            <a:off x="457200" y="51206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Gap analysis: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7 public PS-26249 projects reviewed (NIRANTAR, AERO-READY, AeroTwin-AI, AirPower, SIH_249, PREDIX, VAYU SEWA) — none model flight &amp; maintenance planning, multi-echelon sparing or probabilistic readiness. Prototype figures use a notional fleet; no classified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TPAR Readiness">
  <a:themeElements>
    <a:clrScheme name="TATPAR Readiness">
      <a:dk1>
        <a:srgbClr val="0B1B33"/>
      </a:dk1>
      <a:lt1>
        <a:srgbClr val="FFFFFF"/>
      </a:lt1>
      <a:dk2>
        <a:srgbClr val="1E3A5F"/>
      </a:dk2>
      <a:lt2>
        <a:srgbClr val="EEF3F8"/>
      </a:lt2>
      <a:accent1>
        <a:srgbClr val="E8871E"/>
      </a:accent1>
      <a:accent2>
        <a:srgbClr val="0F766E"/>
      </a:accent2>
      <a:accent3>
        <a:srgbClr val="3B82C4"/>
      </a:accent3>
      <a:accent4>
        <a:srgbClr val="7C3AED"/>
      </a:accent4>
      <a:accent5>
        <a:srgbClr val="B45309"/>
      </a:accent5>
      <a:accent6>
        <a:srgbClr val="64748B"/>
      </a:accent6>
      <a:hlink>
        <a:srgbClr val="2563EB"/>
      </a:hlink>
      <a:folHlink>
        <a:srgbClr val="7C3AED"/>
      </a:folHlink>
    </a:clrScheme>
    <a:fontScheme name="TATPAR Readine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TATPAR — SIH 2026 PS 26249</dc:title>
  <dc:subject>PptxGenJS Presentation</dc:subject>
  <dc:creator>TATPAR team</dc:creator>
  <cp:lastModifiedBy>TATPAR team</cp:lastModifiedBy>
  <cp:revision>1</cp:revision>
  <dcterms:created xsi:type="dcterms:W3CDTF">2026-10-05T20:46:52Z</dcterms:created>
  <dcterms:modified xsi:type="dcterms:W3CDTF">2026-10-05T20:46:52Z</dcterms:modified>
</cp:coreProperties>
</file>